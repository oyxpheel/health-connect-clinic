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5" r:id="rId11"/>
    <p:sldId id="267" r:id="rId12"/>
    <p:sldId id="270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134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F48CF4-C708-422D-92AA-093D376140EF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8CAC36DB-A263-4BCF-93FD-2C0465D66A52}">
      <dgm:prSet phldrT="[Text]" phldr="1"/>
      <dgm:spPr/>
      <dgm:t>
        <a:bodyPr/>
        <a:lstStyle/>
        <a:p>
          <a:endParaRPr lang="en-US" dirty="0"/>
        </a:p>
      </dgm:t>
    </dgm:pt>
    <dgm:pt modelId="{E8215F2F-9141-44ED-85A0-E635A8A0852F}" type="sibTrans" cxnId="{C4CFB772-F009-4BC9-9368-14849DDC826D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en-US"/>
        </a:p>
      </dgm:t>
    </dgm:pt>
    <dgm:pt modelId="{09638842-C93D-4F08-B77F-4684F88DB0B8}" type="parTrans" cxnId="{C4CFB772-F009-4BC9-9368-14849DDC826D}">
      <dgm:prSet/>
      <dgm:spPr/>
      <dgm:t>
        <a:bodyPr/>
        <a:lstStyle/>
        <a:p>
          <a:endParaRPr lang="en-US"/>
        </a:p>
      </dgm:t>
    </dgm:pt>
    <dgm:pt modelId="{9EC6BAC6-E832-493C-8AA0-8AC19CCDA4AE}" type="pres">
      <dgm:prSet presAssocID="{4FF48CF4-C708-422D-92AA-093D376140EF}" presName="Name0" presStyleCnt="0">
        <dgm:presLayoutVars>
          <dgm:chMax val="7"/>
          <dgm:chPref val="7"/>
          <dgm:dir/>
        </dgm:presLayoutVars>
      </dgm:prSet>
      <dgm:spPr/>
    </dgm:pt>
    <dgm:pt modelId="{E02CAF3E-B483-496D-872B-76F45DBD4838}" type="pres">
      <dgm:prSet presAssocID="{4FF48CF4-C708-422D-92AA-093D376140EF}" presName="Name1" presStyleCnt="0"/>
      <dgm:spPr/>
    </dgm:pt>
    <dgm:pt modelId="{61E2EABB-9978-4FD3-B15A-BDA0014F8FCE}" type="pres">
      <dgm:prSet presAssocID="{E8215F2F-9141-44ED-85A0-E635A8A0852F}" presName="picture_1" presStyleCnt="0"/>
      <dgm:spPr/>
    </dgm:pt>
    <dgm:pt modelId="{4AC10403-E56E-4FD5-9E0D-392EE84B0E43}" type="pres">
      <dgm:prSet presAssocID="{E8215F2F-9141-44ED-85A0-E635A8A0852F}" presName="pictureRepeatNode" presStyleLbl="alignImgPlace1" presStyleIdx="0" presStyleCnt="1" custScaleX="100844" custScaleY="122257" custLinFactNeighborX="-26554" custLinFactNeighborY="61047"/>
      <dgm:spPr/>
    </dgm:pt>
    <dgm:pt modelId="{78CCA62C-2871-4384-969F-C3BD829C0A4E}" type="pres">
      <dgm:prSet presAssocID="{8CAC36DB-A263-4BCF-93FD-2C0465D66A52}" presName="text_1" presStyleLbl="node1" presStyleIdx="0" presStyleCnt="0" custFlipVert="1" custFlipHor="1" custScaleX="16621" custScaleY="8812">
        <dgm:presLayoutVars>
          <dgm:bulletEnabled val="1"/>
        </dgm:presLayoutVars>
      </dgm:prSet>
      <dgm:spPr/>
    </dgm:pt>
  </dgm:ptLst>
  <dgm:cxnLst>
    <dgm:cxn modelId="{C4CFB772-F009-4BC9-9368-14849DDC826D}" srcId="{4FF48CF4-C708-422D-92AA-093D376140EF}" destId="{8CAC36DB-A263-4BCF-93FD-2C0465D66A52}" srcOrd="0" destOrd="0" parTransId="{09638842-C93D-4F08-B77F-4684F88DB0B8}" sibTransId="{E8215F2F-9141-44ED-85A0-E635A8A0852F}"/>
    <dgm:cxn modelId="{87916D7E-7A85-4206-8283-4035D1DEC0F4}" type="presOf" srcId="{8CAC36DB-A263-4BCF-93FD-2C0465D66A52}" destId="{78CCA62C-2871-4384-969F-C3BD829C0A4E}" srcOrd="0" destOrd="0" presId="urn:microsoft.com/office/officeart/2008/layout/CircularPictureCallout"/>
    <dgm:cxn modelId="{6463818C-3D3B-4647-BC2F-A1E1ACF03B1D}" type="presOf" srcId="{4FF48CF4-C708-422D-92AA-093D376140EF}" destId="{9EC6BAC6-E832-493C-8AA0-8AC19CCDA4AE}" srcOrd="0" destOrd="0" presId="urn:microsoft.com/office/officeart/2008/layout/CircularPictureCallout"/>
    <dgm:cxn modelId="{0E3D9ADC-F0FC-4037-BFC1-37FF0F112578}" type="presOf" srcId="{E8215F2F-9141-44ED-85A0-E635A8A0852F}" destId="{4AC10403-E56E-4FD5-9E0D-392EE84B0E43}" srcOrd="0" destOrd="0" presId="urn:microsoft.com/office/officeart/2008/layout/CircularPictureCallout"/>
    <dgm:cxn modelId="{75725AC8-7D94-4833-8DC8-D3FE52010359}" type="presParOf" srcId="{9EC6BAC6-E832-493C-8AA0-8AC19CCDA4AE}" destId="{E02CAF3E-B483-496D-872B-76F45DBD4838}" srcOrd="0" destOrd="0" presId="urn:microsoft.com/office/officeart/2008/layout/CircularPictureCallout"/>
    <dgm:cxn modelId="{2DB545B3-B01F-44E3-B519-D2AAC3E8351E}" type="presParOf" srcId="{E02CAF3E-B483-496D-872B-76F45DBD4838}" destId="{61E2EABB-9978-4FD3-B15A-BDA0014F8FCE}" srcOrd="0" destOrd="0" presId="urn:microsoft.com/office/officeart/2008/layout/CircularPictureCallout"/>
    <dgm:cxn modelId="{C1025F75-4ABC-4351-98E2-47CBE346F902}" type="presParOf" srcId="{61E2EABB-9978-4FD3-B15A-BDA0014F8FCE}" destId="{4AC10403-E56E-4FD5-9E0D-392EE84B0E43}" srcOrd="0" destOrd="0" presId="urn:microsoft.com/office/officeart/2008/layout/CircularPictureCallout"/>
    <dgm:cxn modelId="{889C8F24-333E-4802-9504-263DD07C82F2}" type="presParOf" srcId="{E02CAF3E-B483-496D-872B-76F45DBD4838}" destId="{78CCA62C-2871-4384-969F-C3BD829C0A4E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10403-E56E-4FD5-9E0D-392EE84B0E43}">
      <dsp:nvSpPr>
        <dsp:cNvPr id="0" name=""/>
        <dsp:cNvSpPr/>
      </dsp:nvSpPr>
      <dsp:spPr>
        <a:xfrm>
          <a:off x="440405" y="176054"/>
          <a:ext cx="1928955" cy="233854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CA62C-2871-4384-969F-C3BD829C0A4E}">
      <dsp:nvSpPr>
        <dsp:cNvPr id="0" name=""/>
        <dsp:cNvSpPr/>
      </dsp:nvSpPr>
      <dsp:spPr>
        <a:xfrm flipH="1" flipV="1">
          <a:off x="1811073" y="1604399"/>
          <a:ext cx="203474" cy="5562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 rot="10800000">
        <a:off x="1811073" y="1604399"/>
        <a:ext cx="203474" cy="55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80278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" name="Google Shape;10;p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2" name="Google Shape;50;p2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3" name="Google Shape;51;p2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" name="Google Shape;52;p2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5" name="Google Shape;53;p2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4;p2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55;p2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56;p2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57;p2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58;p2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1" name="Google Shape;59;p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2" name="Google Shape;60;p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2;p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3;p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4;p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65;p2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58" name="Google Shape;66;p2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68;p2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61" name="Google Shape;69;p2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72;p2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73;p2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74;p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7" name="Google Shape;75;p2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68" name="Google Shape;76;p2"/>
            <p:cNvSpPr/>
            <p:nvPr/>
          </p:nvSpPr>
          <p:spPr>
            <a:xfrm>
              <a:off x="7906320" y="10443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>
              <a:off x="9241920" y="1208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>
              <a:off x="9265680" y="1232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>
              <a:off x="7812720" y="9979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>
              <a:off x="7836840" y="1022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81;p2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4" name="Google Shape;82;p2"/>
            <p:cNvSpPr/>
            <p:nvPr/>
          </p:nvSpPr>
          <p:spPr>
            <a:xfrm>
              <a:off x="8496000" y="1713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>
              <a:off x="8643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>
              <a:off x="878976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>
              <a:off x="893592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>
              <a:off x="908208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>
              <a:off x="9228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" name="Google Shape;88;p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81" name="Google Shape;89;p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2" name="Google Shape;90;p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91;p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92;p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93;p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94;p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95;p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96;p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97;p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98;p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99;p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100;p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3" name="Google Shape;101;p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2;p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3;p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4;p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5;p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6;p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7;p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8;p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09;p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0;p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3" name="Google Shape;111;p2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4" name="Google Shape;112;p2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13;p2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14;p2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15;p2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16;p2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9" name="Google Shape;117;p2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10" name="Google Shape;118;p2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19;p2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0;p2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21;p2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22;p2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5" name="Google Shape;123;p2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16" name="Google Shape;124;p2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25;p2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Google Shape;126;p2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30;p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66" name="Google Shape;231;p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232;p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233;p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234;p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235;p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236;p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237;p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238;p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239;p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240;p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241;p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242;p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243;p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244;p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245;p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246;p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247;p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248;p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249;p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250;p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251;p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252;p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253;p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254;p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255;p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256;p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257;p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258;p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259;p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260;p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261;p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262;p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263;p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264;p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265;p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266;p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267;p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268;p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06" name="Google Shape;271;p4"/>
          <p:cNvGrpSpPr/>
          <p:nvPr/>
        </p:nvGrpSpPr>
        <p:grpSpPr>
          <a:xfrm>
            <a:off x="8609040" y="-619560"/>
            <a:ext cx="296280" cy="1823040"/>
            <a:chOff x="8609040" y="-619560"/>
            <a:chExt cx="296280" cy="1823040"/>
          </a:xfrm>
        </p:grpSpPr>
        <p:sp>
          <p:nvSpPr>
            <p:cNvPr id="307" name="Google Shape;272;p4"/>
            <p:cNvSpPr/>
            <p:nvPr/>
          </p:nvSpPr>
          <p:spPr>
            <a:xfrm rot="16200000" flipV="1">
              <a:off x="7822080" y="16740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273;p4"/>
            <p:cNvSpPr/>
            <p:nvPr/>
          </p:nvSpPr>
          <p:spPr>
            <a:xfrm rot="16200000" flipV="1">
              <a:off x="8813880" y="515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274;p4"/>
            <p:cNvSpPr/>
            <p:nvPr/>
          </p:nvSpPr>
          <p:spPr>
            <a:xfrm rot="16200000" flipV="1">
              <a:off x="8838000" y="539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275;p4"/>
            <p:cNvSpPr/>
            <p:nvPr/>
          </p:nvSpPr>
          <p:spPr>
            <a:xfrm rot="16200000" flipV="1">
              <a:off x="8714160" y="1112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276;p4"/>
            <p:cNvSpPr/>
            <p:nvPr/>
          </p:nvSpPr>
          <p:spPr>
            <a:xfrm rot="16200000" flipV="1">
              <a:off x="8738280" y="1135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277;p4"/>
            <p:cNvSpPr/>
            <p:nvPr/>
          </p:nvSpPr>
          <p:spPr>
            <a:xfrm rot="16200000" flipV="1">
              <a:off x="8204040" y="-1400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3" name="Google Shape;278;p4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4" name="Google Shape;279;p4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315" name="Google Shape;280;p4"/>
            <p:cNvSpPr/>
            <p:nvPr/>
          </p:nvSpPr>
          <p:spPr>
            <a:xfrm rot="10800000" flipH="1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281;p4"/>
            <p:cNvSpPr/>
            <p:nvPr/>
          </p:nvSpPr>
          <p:spPr>
            <a:xfrm rot="10800000" flipH="1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282;p4"/>
            <p:cNvSpPr/>
            <p:nvPr/>
          </p:nvSpPr>
          <p:spPr>
            <a:xfrm rot="10800000" flipH="1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8" name="Google Shape;283;p4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319" name="Google Shape;284;p4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320" name="Google Shape;285;p4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" name="Google Shape;286;p4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" name="Google Shape;287;p4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" name="Google Shape;288;p4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" name="Google Shape;289;p4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" name="Google Shape;290;p4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" name="Google Shape;291;p4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" name="Google Shape;292;p4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" name="Google Shape;293;p4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" name="Google Shape;294;p4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30" name="Google Shape;295;p4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331" name="Google Shape;296;p4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297;p4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3" name="Google Shape;298;p4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4" name="Google Shape;299;p4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5" name="Google Shape;300;p4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6" name="Google Shape;301;p4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7" name="Google Shape;302;p4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8" name="Google Shape;303;p4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304;p4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0" name="Google Shape;305;p4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41" name="Google Shape;306;p4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2" name="Google Shape;307;p4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yxpheel/Health-Connect-Clinic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2700;p34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346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2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353" name="Google Shape;2708;p34"/>
            <p:cNvSpPr/>
            <p:nvPr/>
          </p:nvSpPr>
          <p:spPr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2709;p34"/>
            <p:cNvSpPr/>
            <p:nvPr/>
          </p:nvSpPr>
          <p:spPr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2710;p34"/>
            <p:cNvSpPr/>
            <p:nvPr/>
          </p:nvSpPr>
          <p:spPr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711;p34"/>
            <p:cNvSpPr/>
            <p:nvPr/>
          </p:nvSpPr>
          <p:spPr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2712;p34"/>
            <p:cNvSpPr/>
            <p:nvPr/>
          </p:nvSpPr>
          <p:spPr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2713;p34"/>
            <p:cNvSpPr/>
            <p:nvPr/>
          </p:nvSpPr>
          <p:spPr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9" name="Google Shape;2714;p34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360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5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366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367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9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0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1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2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6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7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378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0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88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389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3" name="Rectangle 402"/>
          <p:cNvSpPr/>
          <p:nvPr/>
        </p:nvSpPr>
        <p:spPr>
          <a:xfrm>
            <a:off x="5005440" y="3700337"/>
            <a:ext cx="4138560" cy="7054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i="1" dirty="0">
                <a:solidFill>
                  <a:srgbClr val="FFFFFF"/>
                </a:solidFill>
                <a:latin typeface="PT Sans"/>
              </a:rPr>
              <a:t>Fatimah Odumuyiwa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i="1" dirty="0">
                <a:solidFill>
                  <a:srgbClr val="FFFFFF"/>
                </a:solidFill>
                <a:latin typeface="PT Sans"/>
              </a:rPr>
              <a:t>Data Science Intern,  </a:t>
            </a:r>
            <a:r>
              <a:rPr lang="en-US" i="1" dirty="0" err="1">
                <a:solidFill>
                  <a:srgbClr val="FFFFFF"/>
                </a:solidFill>
                <a:latin typeface="PT Sans"/>
              </a:rPr>
              <a:t>AnalystLab</a:t>
            </a:r>
            <a:r>
              <a:rPr lang="en-US" i="1" dirty="0">
                <a:solidFill>
                  <a:srgbClr val="FFFFFF"/>
                </a:solidFill>
                <a:latin typeface="PT Sans"/>
              </a:rPr>
              <a:t> Africa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i="1" dirty="0">
              <a:solidFill>
                <a:srgbClr val="FFFFFF"/>
              </a:solidFill>
              <a:latin typeface="PT Sans"/>
            </a:endParaRPr>
          </a:p>
        </p:txBody>
      </p:sp>
      <p:sp>
        <p:nvSpPr>
          <p:cNvPr id="404" name="Rectangle 403"/>
          <p:cNvSpPr/>
          <p:nvPr/>
        </p:nvSpPr>
        <p:spPr>
          <a:xfrm>
            <a:off x="1130877" y="1694792"/>
            <a:ext cx="7027777" cy="1009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70000" lnSpcReduction="20000"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5800" b="1" u="none" strike="noStrike" dirty="0">
                <a:solidFill>
                  <a:srgbClr val="8FFFFF"/>
                </a:solidFill>
                <a:effectLst/>
                <a:uFillTx/>
                <a:latin typeface="Exo"/>
              </a:rPr>
              <a:t>HEALTH CARE CONNECT CLINIC</a:t>
            </a:r>
            <a:endParaRPr lang="en-US" sz="5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00A80D-BD65-43FC-B09F-50B1C1EDB93D}"/>
              </a:ext>
            </a:extLst>
          </p:cNvPr>
          <p:cNvSpPr txBox="1"/>
          <p:nvPr/>
        </p:nvSpPr>
        <p:spPr>
          <a:xfrm>
            <a:off x="2588921" y="2229828"/>
            <a:ext cx="3908390" cy="464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GB" i="1" dirty="0">
                <a:solidFill>
                  <a:srgbClr val="FFFFFF"/>
                </a:solidFill>
                <a:latin typeface="PT Sans"/>
              </a:rPr>
              <a:t>....a</a:t>
            </a:r>
            <a:r>
              <a:rPr lang="en-US" i="1" dirty="0">
                <a:solidFill>
                  <a:srgbClr val="FFFFFF"/>
                </a:solidFill>
                <a:latin typeface="PT Sans"/>
              </a:rPr>
              <a:t> fictional health care provider</a:t>
            </a:r>
            <a:endParaRPr lang="en-US" sz="1800" b="0" i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406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3" name="Rectangle 412"/>
          <p:cNvSpPr/>
          <p:nvPr/>
        </p:nvSpPr>
        <p:spPr>
          <a:xfrm>
            <a:off x="174798" y="1256469"/>
            <a:ext cx="6140480" cy="31507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dirty="0" err="1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HealthConnect</a:t>
            </a:r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Clinic is a fictional healthcare provider seeking to: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• Reduce missed appointments.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• Improve patient appointment attendance.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• Make better use of available appointment slots.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• Provide more effective administrative support to patients. </a:t>
            </a:r>
            <a:endParaRPr lang="en-US" sz="16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57828-5D6F-45C9-AEBB-3234DA93CA7F}"/>
              </a:ext>
            </a:extLst>
          </p:cNvPr>
          <p:cNvSpPr/>
          <p:nvPr/>
        </p:nvSpPr>
        <p:spPr>
          <a:xfrm>
            <a:off x="174798" y="383241"/>
            <a:ext cx="3381443" cy="9011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2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MISSION </a:t>
            </a:r>
            <a:r>
              <a:rPr lang="en-GB" sz="2400" b="0" u="none" strike="noStrike" dirty="0"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OpenSymbol"/>
              </a:rPr>
              <a:t>STATEMENT</a:t>
            </a:r>
            <a:endParaRPr lang="en-US" sz="2400" b="0" u="none" strike="noStrike" dirty="0">
              <a:solidFill>
                <a:schemeClr val="accent2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AF1227B-03C7-4381-9ECC-47BB76EB1E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725147"/>
              </p:ext>
            </p:extLst>
          </p:nvPr>
        </p:nvGraphicFramePr>
        <p:xfrm>
          <a:off x="6024282" y="497541"/>
          <a:ext cx="3825622" cy="251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77479B2-6B4B-4473-A6B3-AE544B648818}"/>
              </a:ext>
            </a:extLst>
          </p:cNvPr>
          <p:cNvSpPr/>
          <p:nvPr/>
        </p:nvSpPr>
        <p:spPr>
          <a:xfrm>
            <a:off x="174798" y="383241"/>
            <a:ext cx="6232726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2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MY PROJECT JOURNEY – </a:t>
            </a:r>
            <a:r>
              <a:rPr lang="en-GB" sz="2400" b="0" u="none" strike="noStrike" dirty="0">
                <a:solidFill>
                  <a:schemeClr val="accent2"/>
                </a:solidFill>
                <a:effectLst/>
                <a:uFillTx/>
                <a:latin typeface="OpenSymbol"/>
              </a:rPr>
              <a:t>DATA SCIENCE TRACK</a:t>
            </a:r>
            <a:endParaRPr lang="en-US" sz="2400" b="0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7FEBFA-7EFE-47B6-AA81-FF4D82C46F1B}"/>
              </a:ext>
            </a:extLst>
          </p:cNvPr>
          <p:cNvSpPr txBox="1"/>
          <p:nvPr/>
        </p:nvSpPr>
        <p:spPr>
          <a:xfrm>
            <a:off x="174798" y="991819"/>
            <a:ext cx="8562802" cy="3368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Week 4, understood the problem and planned the approach</a:t>
            </a:r>
            <a:b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Week 5, built a baseline Logistic Regression model</a:t>
            </a:r>
            <a:b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Week 6, tested Random Forest, began cross track work with Data Analytics</a:t>
            </a:r>
            <a:b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Week 7, tested Gradient Boosting, caught a false lead through cross validation, resolved a no show rate discrepancy.</a:t>
            </a:r>
            <a:b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Week 8, locked in the final model, completed integration and presentation</a:t>
            </a:r>
            <a:endParaRPr lang="en-US" sz="18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452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943B4-6F6D-4346-B8DE-316302B11FC3}"/>
              </a:ext>
            </a:extLst>
          </p:cNvPr>
          <p:cNvSpPr/>
          <p:nvPr/>
        </p:nvSpPr>
        <p:spPr>
          <a:xfrm>
            <a:off x="174798" y="276044"/>
            <a:ext cx="4716379" cy="8183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2400" b="0" u="none" strike="noStrike" dirty="0">
                <a:solidFill>
                  <a:schemeClr val="bg1"/>
                </a:solidFill>
                <a:effectLst/>
                <a:uFillTx/>
                <a:latin typeface="OpenSymbol"/>
              </a:rPr>
              <a:t>THREE MODELS: </a:t>
            </a:r>
            <a:r>
              <a:rPr lang="en-GB" sz="2400" b="0" u="none" strike="noStrike" dirty="0">
                <a:solidFill>
                  <a:schemeClr val="accent2"/>
                </a:solidFill>
                <a:effectLst/>
                <a:uFillTx/>
                <a:latin typeface="OpenSymbol"/>
              </a:rPr>
              <a:t>ONE FINAL CHOICE</a:t>
            </a:r>
            <a:endParaRPr lang="en-US" sz="2400" b="0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D56E5D-2642-453C-975C-AFA5CF081173}"/>
              </a:ext>
            </a:extLst>
          </p:cNvPr>
          <p:cNvSpPr txBox="1"/>
          <p:nvPr/>
        </p:nvSpPr>
        <p:spPr>
          <a:xfrm>
            <a:off x="174798" y="991819"/>
            <a:ext cx="8562802" cy="3368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914400">
              <a:lnSpc>
                <a:spcPct val="150000"/>
              </a:lnSpc>
              <a:buAutoNum type="arabicPeriod"/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Logistic Regression, my baseline, simple and reliable</a:t>
            </a:r>
          </a:p>
          <a:p>
            <a:pPr marL="342900" indent="-342900" defTabSz="914400">
              <a:lnSpc>
                <a:spcPct val="150000"/>
              </a:lnSpc>
              <a:buAutoNum type="arabicPeriod"/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Random Forest, tuned to reduce overfitting, strong but not my final choice</a:t>
            </a:r>
          </a:p>
          <a:p>
            <a:pPr marL="342900" indent="-342900" defTabSz="914400">
              <a:lnSpc>
                <a:spcPct val="150000"/>
              </a:lnSpc>
              <a:buAutoNum type="arabicPeriod"/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Gradient Boosting, tested as the leading challenger, ultimately tied with the baseline once properly evaluated</a:t>
            </a:r>
            <a:b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endParaRPr lang="en-US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My final pick, Logistic Regression, for its reliability and simplicity</a:t>
            </a:r>
            <a:endParaRPr lang="en-US" sz="18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2765;p35"/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461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765;p35">
            <a:extLst>
              <a:ext uri="{FF2B5EF4-FFF2-40B4-BE49-F238E27FC236}">
                <a16:creationId xmlns:a16="http://schemas.microsoft.com/office/drawing/2014/main" id="{EFC2BF73-44F6-441F-9960-563E8B0CB559}"/>
              </a:ext>
            </a:extLst>
          </p:cNvPr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14" name="Google Shape;2766;p35">
              <a:extLst>
                <a:ext uri="{FF2B5EF4-FFF2-40B4-BE49-F238E27FC236}">
                  <a16:creationId xmlns:a16="http://schemas.microsoft.com/office/drawing/2014/main" id="{F396DBD5-152B-4972-A13D-503051B49791}"/>
                </a:ext>
              </a:extLst>
            </p:cNvPr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767;p35">
              <a:extLst>
                <a:ext uri="{FF2B5EF4-FFF2-40B4-BE49-F238E27FC236}">
                  <a16:creationId xmlns:a16="http://schemas.microsoft.com/office/drawing/2014/main" id="{34030D9C-7E88-4ACE-8F46-691470523195}"/>
                </a:ext>
              </a:extLst>
            </p:cNvPr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768;p35">
              <a:extLst>
                <a:ext uri="{FF2B5EF4-FFF2-40B4-BE49-F238E27FC236}">
                  <a16:creationId xmlns:a16="http://schemas.microsoft.com/office/drawing/2014/main" id="{7F039F86-56B1-44E8-8E93-395674A75AD7}"/>
                </a:ext>
              </a:extLst>
            </p:cNvPr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769;p35">
              <a:extLst>
                <a:ext uri="{FF2B5EF4-FFF2-40B4-BE49-F238E27FC236}">
                  <a16:creationId xmlns:a16="http://schemas.microsoft.com/office/drawing/2014/main" id="{0BC3F3DD-E70A-4601-AD06-EAE22030C9BF}"/>
                </a:ext>
              </a:extLst>
            </p:cNvPr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770;p35">
              <a:extLst>
                <a:ext uri="{FF2B5EF4-FFF2-40B4-BE49-F238E27FC236}">
                  <a16:creationId xmlns:a16="http://schemas.microsoft.com/office/drawing/2014/main" id="{F937341C-5CCC-440A-BDB0-41FBA8B06888}"/>
                </a:ext>
              </a:extLst>
            </p:cNvPr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771;p35">
              <a:extLst>
                <a:ext uri="{FF2B5EF4-FFF2-40B4-BE49-F238E27FC236}">
                  <a16:creationId xmlns:a16="http://schemas.microsoft.com/office/drawing/2014/main" id="{6C7EEB06-6EFA-4EC9-92D9-1CEAFB413130}"/>
                </a:ext>
              </a:extLst>
            </p:cNvPr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D3D4BA4-D71F-43A3-A4BC-E98B6AD7D351}"/>
              </a:ext>
            </a:extLst>
          </p:cNvPr>
          <p:cNvSpPr/>
          <p:nvPr/>
        </p:nvSpPr>
        <p:spPr>
          <a:xfrm>
            <a:off x="174798" y="276044"/>
            <a:ext cx="4716379" cy="901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2400" b="0" u="none" strike="noStrike" dirty="0">
                <a:solidFill>
                  <a:schemeClr val="bg1"/>
                </a:solidFill>
                <a:effectLst/>
                <a:uFillTx/>
                <a:latin typeface="OpenSymbol"/>
              </a:rPr>
              <a:t>P</a:t>
            </a:r>
            <a:r>
              <a:rPr lang="en-US" sz="2400" b="0" u="none" strike="noStrike" dirty="0">
                <a:solidFill>
                  <a:schemeClr val="bg1"/>
                </a:solidFill>
                <a:effectLst/>
                <a:uFillTx/>
                <a:latin typeface="OpenSymbol"/>
              </a:rPr>
              <a:t>REDICTION </a:t>
            </a:r>
            <a:r>
              <a:rPr lang="en-US" sz="2400" b="0" u="none" strike="noStrike" dirty="0">
                <a:solidFill>
                  <a:schemeClr val="accent2"/>
                </a:solidFill>
                <a:effectLst/>
                <a:uFillTx/>
                <a:latin typeface="OpenSymbol"/>
              </a:rPr>
              <a:t>NOT JUST DESCRIPTION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D74AD9-ED05-45D5-9281-7337C7015E61}"/>
              </a:ext>
            </a:extLst>
          </p:cNvPr>
          <p:cNvSpPr txBox="1"/>
          <p:nvPr/>
        </p:nvSpPr>
        <p:spPr>
          <a:xfrm>
            <a:off x="104558" y="1398095"/>
            <a:ext cx="8562802" cy="2347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dirty="0" err="1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HealthConnect</a:t>
            </a: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didn't just need to know what happened with missed appointments, it needed to know who is likely to miss their next one. That is a prediction problem, so I chose a classification model, not a dashboard alone.</a:t>
            </a: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2765;p35">
            <a:extLst>
              <a:ext uri="{FF2B5EF4-FFF2-40B4-BE49-F238E27FC236}">
                <a16:creationId xmlns:a16="http://schemas.microsoft.com/office/drawing/2014/main" id="{30A27348-D488-4A82-9043-BE33530389F1}"/>
              </a:ext>
            </a:extLst>
          </p:cNvPr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31" name="Google Shape;2766;p35">
              <a:extLst>
                <a:ext uri="{FF2B5EF4-FFF2-40B4-BE49-F238E27FC236}">
                  <a16:creationId xmlns:a16="http://schemas.microsoft.com/office/drawing/2014/main" id="{A0BE2672-B6AA-40FB-8098-9F394A2C8EBC}"/>
                </a:ext>
              </a:extLst>
            </p:cNvPr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2767;p35">
              <a:extLst>
                <a:ext uri="{FF2B5EF4-FFF2-40B4-BE49-F238E27FC236}">
                  <a16:creationId xmlns:a16="http://schemas.microsoft.com/office/drawing/2014/main" id="{19F86BA8-3F28-49B3-80E0-38C008BA95A6}"/>
                </a:ext>
              </a:extLst>
            </p:cNvPr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2768;p35">
              <a:extLst>
                <a:ext uri="{FF2B5EF4-FFF2-40B4-BE49-F238E27FC236}">
                  <a16:creationId xmlns:a16="http://schemas.microsoft.com/office/drawing/2014/main" id="{1763D50D-9A2C-49A1-BAB6-D03F4A67F41B}"/>
                </a:ext>
              </a:extLst>
            </p:cNvPr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2769;p35">
              <a:extLst>
                <a:ext uri="{FF2B5EF4-FFF2-40B4-BE49-F238E27FC236}">
                  <a16:creationId xmlns:a16="http://schemas.microsoft.com/office/drawing/2014/main" id="{D01D1BBA-33D8-4D3D-A185-EFE2191FEA7C}"/>
                </a:ext>
              </a:extLst>
            </p:cNvPr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770;p35">
              <a:extLst>
                <a:ext uri="{FF2B5EF4-FFF2-40B4-BE49-F238E27FC236}">
                  <a16:creationId xmlns:a16="http://schemas.microsoft.com/office/drawing/2014/main" id="{1D4E7D39-0899-4EA8-9D0D-B58E4A90EFB9}"/>
                </a:ext>
              </a:extLst>
            </p:cNvPr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2771;p35">
              <a:extLst>
                <a:ext uri="{FF2B5EF4-FFF2-40B4-BE49-F238E27FC236}">
                  <a16:creationId xmlns:a16="http://schemas.microsoft.com/office/drawing/2014/main" id="{7DA58BDC-EF1E-4A44-95D1-5B3472B6A6D3}"/>
                </a:ext>
              </a:extLst>
            </p:cNvPr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" name="Google Shape;2765;p35">
            <a:extLst>
              <a:ext uri="{FF2B5EF4-FFF2-40B4-BE49-F238E27FC236}">
                <a16:creationId xmlns:a16="http://schemas.microsoft.com/office/drawing/2014/main" id="{7F4671E1-0374-419C-8DF2-81295A605E77}"/>
              </a:ext>
            </a:extLst>
          </p:cNvPr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38" name="Google Shape;2766;p35">
              <a:extLst>
                <a:ext uri="{FF2B5EF4-FFF2-40B4-BE49-F238E27FC236}">
                  <a16:creationId xmlns:a16="http://schemas.microsoft.com/office/drawing/2014/main" id="{4F98E06E-612B-4E57-938D-13C6FADEDDFD}"/>
                </a:ext>
              </a:extLst>
            </p:cNvPr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2767;p35">
              <a:extLst>
                <a:ext uri="{FF2B5EF4-FFF2-40B4-BE49-F238E27FC236}">
                  <a16:creationId xmlns:a16="http://schemas.microsoft.com/office/drawing/2014/main" id="{3360305F-2A9D-4B75-8BFD-A5D3C11CE03A}"/>
                </a:ext>
              </a:extLst>
            </p:cNvPr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2768;p35">
              <a:extLst>
                <a:ext uri="{FF2B5EF4-FFF2-40B4-BE49-F238E27FC236}">
                  <a16:creationId xmlns:a16="http://schemas.microsoft.com/office/drawing/2014/main" id="{357A0CD6-C620-4521-A34B-D6654F520CC7}"/>
                </a:ext>
              </a:extLst>
            </p:cNvPr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2769;p35">
              <a:extLst>
                <a:ext uri="{FF2B5EF4-FFF2-40B4-BE49-F238E27FC236}">
                  <a16:creationId xmlns:a16="http://schemas.microsoft.com/office/drawing/2014/main" id="{6FF3CE1E-89AA-41F1-9B56-CC288F886D42}"/>
                </a:ext>
              </a:extLst>
            </p:cNvPr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2770;p35">
              <a:extLst>
                <a:ext uri="{FF2B5EF4-FFF2-40B4-BE49-F238E27FC236}">
                  <a16:creationId xmlns:a16="http://schemas.microsoft.com/office/drawing/2014/main" id="{E18D154B-687D-4B54-8842-27755F7CF06A}"/>
                </a:ext>
              </a:extLst>
            </p:cNvPr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2771;p35">
              <a:extLst>
                <a:ext uri="{FF2B5EF4-FFF2-40B4-BE49-F238E27FC236}">
                  <a16:creationId xmlns:a16="http://schemas.microsoft.com/office/drawing/2014/main" id="{EE8C1B68-6EA5-4507-9764-C35F043D2A8D}"/>
                </a:ext>
              </a:extLst>
            </p:cNvPr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EA186DB-2881-449C-B81A-1EA6DBA48B38}"/>
              </a:ext>
            </a:extLst>
          </p:cNvPr>
          <p:cNvSpPr/>
          <p:nvPr/>
        </p:nvSpPr>
        <p:spPr>
          <a:xfrm>
            <a:off x="174798" y="276044"/>
            <a:ext cx="3120493" cy="901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200" b="0" u="none" strike="noStrike" dirty="0">
                <a:solidFill>
                  <a:schemeClr val="bg1"/>
                </a:solidFill>
                <a:effectLst/>
                <a:uFillTx/>
                <a:latin typeface="OpenSymbol"/>
              </a:rPr>
              <a:t>FALSE </a:t>
            </a:r>
            <a:r>
              <a:rPr lang="en-GB" sz="3200" b="0" u="none" strike="noStrike" dirty="0">
                <a:solidFill>
                  <a:schemeClr val="accent2"/>
                </a:solidFill>
                <a:effectLst/>
                <a:uFillTx/>
                <a:latin typeface="OpenSymbol"/>
              </a:rPr>
              <a:t>LEAD</a:t>
            </a:r>
            <a:endParaRPr lang="en-US" sz="3200" b="0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D828F6-6A7B-4BC4-8120-FD2237158A81}"/>
              </a:ext>
            </a:extLst>
          </p:cNvPr>
          <p:cNvSpPr txBox="1"/>
          <p:nvPr/>
        </p:nvSpPr>
        <p:spPr>
          <a:xfrm>
            <a:off x="104558" y="1398095"/>
            <a:ext cx="8562802" cy="32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Gradient Boosting first looked stronger on recall, 0.64 against the baseline's 0.62</a:t>
            </a:r>
            <a:b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Five fold cross validation showed the two models were actually statistically tied</a:t>
            </a:r>
            <a:b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I withdrew the apparent win once I tested it properly</a:t>
            </a:r>
            <a:b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This became my reason for choosing reliability over a result that didn't hold up</a:t>
            </a: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2765;p35"/>
          <p:cNvGrpSpPr/>
          <p:nvPr/>
        </p:nvGrpSpPr>
        <p:grpSpPr>
          <a:xfrm>
            <a:off x="7126560" y="852840"/>
            <a:ext cx="882720" cy="241560"/>
            <a:chOff x="7126560" y="852840"/>
            <a:chExt cx="882720" cy="241560"/>
          </a:xfrm>
        </p:grpSpPr>
        <p:sp>
          <p:nvSpPr>
            <p:cNvPr id="500" name="Google Shape;2766;p35"/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2767;p35"/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2768;p35"/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2769;p35"/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2770;p35"/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2771;p35"/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6" name="Rectangle: Rounded Corners 505"/>
          <p:cNvSpPr/>
          <p:nvPr/>
        </p:nvSpPr>
        <p:spPr>
          <a:xfrm>
            <a:off x="4952880" y="343080"/>
            <a:ext cx="3714480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8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7" name="Rectangle: Rounded Corners 506"/>
          <p:cNvSpPr/>
          <p:nvPr/>
        </p:nvSpPr>
        <p:spPr>
          <a:xfrm>
            <a:off x="4952880" y="1847880"/>
            <a:ext cx="3714480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8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8" name="Rectangle: Rounded Corners 507"/>
          <p:cNvSpPr/>
          <p:nvPr/>
        </p:nvSpPr>
        <p:spPr>
          <a:xfrm>
            <a:off x="4952880" y="3352680"/>
            <a:ext cx="3714480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8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9" name="Rectangle 508"/>
          <p:cNvSpPr/>
          <p:nvPr/>
        </p:nvSpPr>
        <p:spPr>
          <a:xfrm>
            <a:off x="155275" y="380880"/>
            <a:ext cx="3940085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1" dirty="0">
                <a:solidFill>
                  <a:srgbClr val="FFFFFF"/>
                </a:solidFill>
                <a:latin typeface="Exo"/>
              </a:rPr>
              <a:t>K</a:t>
            </a:r>
            <a:r>
              <a:rPr lang="en-US" sz="2400" b="1" dirty="0">
                <a:solidFill>
                  <a:srgbClr val="FFFFFF"/>
                </a:solidFill>
                <a:latin typeface="Exo"/>
              </a:rPr>
              <a:t>EY </a:t>
            </a:r>
            <a:r>
              <a:rPr lang="en-US" sz="2400" b="1" dirty="0">
                <a:solidFill>
                  <a:schemeClr val="accent2"/>
                </a:solidFill>
                <a:latin typeface="Exo"/>
              </a:rPr>
              <a:t>METRICS</a:t>
            </a:r>
            <a:endParaRPr lang="en-US" sz="2400" b="0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510" name="Rectangle 509"/>
          <p:cNvSpPr/>
          <p:nvPr/>
        </p:nvSpPr>
        <p:spPr>
          <a:xfrm>
            <a:off x="69011" y="2053086"/>
            <a:ext cx="4737709" cy="22256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My final model performance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0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bg1"/>
                </a:solidFill>
                <a:effectLst/>
                <a:uFillTx/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Logistic Regression at 0.4 decision threshold</a:t>
            </a:r>
          </a:p>
        </p:txBody>
      </p:sp>
      <p:sp>
        <p:nvSpPr>
          <p:cNvPr id="511" name="Rectangle 510"/>
          <p:cNvSpPr/>
          <p:nvPr/>
        </p:nvSpPr>
        <p:spPr>
          <a:xfrm>
            <a:off x="5219640" y="380880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3600" b="1" dirty="0">
                <a:solidFill>
                  <a:srgbClr val="8FFFFF"/>
                </a:solidFill>
                <a:latin typeface="Exo"/>
              </a:rPr>
              <a:t>0</a:t>
            </a:r>
            <a:r>
              <a:rPr lang="en-US" sz="3600" b="1" dirty="0">
                <a:solidFill>
                  <a:srgbClr val="8FFFFF"/>
                </a:solidFill>
                <a:latin typeface="Exo"/>
              </a:rPr>
              <a:t>.80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2" name="Rectangle 511"/>
          <p:cNvSpPr/>
          <p:nvPr/>
        </p:nvSpPr>
        <p:spPr>
          <a:xfrm>
            <a:off x="5219640" y="990720"/>
            <a:ext cx="3180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RECALL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3" name="Rectangle 512"/>
          <p:cNvSpPr/>
          <p:nvPr/>
        </p:nvSpPr>
        <p:spPr>
          <a:xfrm>
            <a:off x="5219640" y="1886040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3600" b="1" dirty="0">
                <a:solidFill>
                  <a:srgbClr val="8FFFFF"/>
                </a:solidFill>
                <a:latin typeface="Exo"/>
              </a:rPr>
              <a:t>0</a:t>
            </a:r>
            <a:r>
              <a:rPr lang="en-US" sz="3600" b="1" dirty="0">
                <a:solidFill>
                  <a:srgbClr val="8FFFFF"/>
                </a:solidFill>
                <a:latin typeface="Exo"/>
              </a:rPr>
              <a:t>.58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4" name="Rectangle 513"/>
          <p:cNvSpPr/>
          <p:nvPr/>
        </p:nvSpPr>
        <p:spPr>
          <a:xfrm>
            <a:off x="5219640" y="2495520"/>
            <a:ext cx="3180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PRECISION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5" name="Rectangle 514"/>
          <p:cNvSpPr/>
          <p:nvPr/>
        </p:nvSpPr>
        <p:spPr>
          <a:xfrm>
            <a:off x="5219640" y="3390840"/>
            <a:ext cx="31809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3600" b="1" dirty="0">
                <a:solidFill>
                  <a:srgbClr val="8FFFFF"/>
                </a:solidFill>
                <a:latin typeface="Exo"/>
              </a:rPr>
              <a:t>0</a:t>
            </a:r>
            <a:r>
              <a:rPr lang="en-US" sz="3600" b="1" dirty="0">
                <a:solidFill>
                  <a:srgbClr val="8FFFFF"/>
                </a:solidFill>
                <a:latin typeface="Exo"/>
              </a:rPr>
              <a:t>.004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6" name="Rectangle 515"/>
          <p:cNvSpPr/>
          <p:nvPr/>
        </p:nvSpPr>
        <p:spPr>
          <a:xfrm>
            <a:off x="5219640" y="4000680"/>
            <a:ext cx="3180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TRAIN TEST GAP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80C76F-EF9C-466F-8AB5-4F76D9AEB34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44" y="407504"/>
            <a:ext cx="7494104" cy="4154557"/>
          </a:xfrm>
        </p:spPr>
      </p:pic>
    </p:spTree>
    <p:extLst>
      <p:ext uri="{BB962C8B-B14F-4D97-AF65-F5344CB8AC3E}">
        <p14:creationId xmlns:p14="http://schemas.microsoft.com/office/powerpoint/2010/main" val="3035122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2765;p35">
            <a:extLst>
              <a:ext uri="{FF2B5EF4-FFF2-40B4-BE49-F238E27FC236}">
                <a16:creationId xmlns:a16="http://schemas.microsoft.com/office/drawing/2014/main" id="{30A27348-D488-4A82-9043-BE33530389F1}"/>
              </a:ext>
            </a:extLst>
          </p:cNvPr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31" name="Google Shape;2766;p35">
              <a:extLst>
                <a:ext uri="{FF2B5EF4-FFF2-40B4-BE49-F238E27FC236}">
                  <a16:creationId xmlns:a16="http://schemas.microsoft.com/office/drawing/2014/main" id="{A0BE2672-B6AA-40FB-8098-9F394A2C8EBC}"/>
                </a:ext>
              </a:extLst>
            </p:cNvPr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2767;p35">
              <a:extLst>
                <a:ext uri="{FF2B5EF4-FFF2-40B4-BE49-F238E27FC236}">
                  <a16:creationId xmlns:a16="http://schemas.microsoft.com/office/drawing/2014/main" id="{19F86BA8-3F28-49B3-80E0-38C008BA95A6}"/>
                </a:ext>
              </a:extLst>
            </p:cNvPr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2768;p35">
              <a:extLst>
                <a:ext uri="{FF2B5EF4-FFF2-40B4-BE49-F238E27FC236}">
                  <a16:creationId xmlns:a16="http://schemas.microsoft.com/office/drawing/2014/main" id="{1763D50D-9A2C-49A1-BAB6-D03F4A67F41B}"/>
                </a:ext>
              </a:extLst>
            </p:cNvPr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2769;p35">
              <a:extLst>
                <a:ext uri="{FF2B5EF4-FFF2-40B4-BE49-F238E27FC236}">
                  <a16:creationId xmlns:a16="http://schemas.microsoft.com/office/drawing/2014/main" id="{D01D1BBA-33D8-4D3D-A185-EFE2191FEA7C}"/>
                </a:ext>
              </a:extLst>
            </p:cNvPr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770;p35">
              <a:extLst>
                <a:ext uri="{FF2B5EF4-FFF2-40B4-BE49-F238E27FC236}">
                  <a16:creationId xmlns:a16="http://schemas.microsoft.com/office/drawing/2014/main" id="{1D4E7D39-0899-4EA8-9D0D-B58E4A90EFB9}"/>
                </a:ext>
              </a:extLst>
            </p:cNvPr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2771;p35">
              <a:extLst>
                <a:ext uri="{FF2B5EF4-FFF2-40B4-BE49-F238E27FC236}">
                  <a16:creationId xmlns:a16="http://schemas.microsoft.com/office/drawing/2014/main" id="{7DA58BDC-EF1E-4A44-95D1-5B3472B6A6D3}"/>
                </a:ext>
              </a:extLst>
            </p:cNvPr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" name="Google Shape;2765;p35">
            <a:extLst>
              <a:ext uri="{FF2B5EF4-FFF2-40B4-BE49-F238E27FC236}">
                <a16:creationId xmlns:a16="http://schemas.microsoft.com/office/drawing/2014/main" id="{7F4671E1-0374-419C-8DF2-81295A605E77}"/>
              </a:ext>
            </a:extLst>
          </p:cNvPr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38" name="Google Shape;2766;p35">
              <a:extLst>
                <a:ext uri="{FF2B5EF4-FFF2-40B4-BE49-F238E27FC236}">
                  <a16:creationId xmlns:a16="http://schemas.microsoft.com/office/drawing/2014/main" id="{4F98E06E-612B-4E57-938D-13C6FADEDDFD}"/>
                </a:ext>
              </a:extLst>
            </p:cNvPr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2767;p35">
              <a:extLst>
                <a:ext uri="{FF2B5EF4-FFF2-40B4-BE49-F238E27FC236}">
                  <a16:creationId xmlns:a16="http://schemas.microsoft.com/office/drawing/2014/main" id="{3360305F-2A9D-4B75-8BFD-A5D3C11CE03A}"/>
                </a:ext>
              </a:extLst>
            </p:cNvPr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2768;p35">
              <a:extLst>
                <a:ext uri="{FF2B5EF4-FFF2-40B4-BE49-F238E27FC236}">
                  <a16:creationId xmlns:a16="http://schemas.microsoft.com/office/drawing/2014/main" id="{357A0CD6-C620-4521-A34B-D6654F520CC7}"/>
                </a:ext>
              </a:extLst>
            </p:cNvPr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2769;p35">
              <a:extLst>
                <a:ext uri="{FF2B5EF4-FFF2-40B4-BE49-F238E27FC236}">
                  <a16:creationId xmlns:a16="http://schemas.microsoft.com/office/drawing/2014/main" id="{6FF3CE1E-89AA-41F1-9B56-CC288F886D42}"/>
                </a:ext>
              </a:extLst>
            </p:cNvPr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2770;p35">
              <a:extLst>
                <a:ext uri="{FF2B5EF4-FFF2-40B4-BE49-F238E27FC236}">
                  <a16:creationId xmlns:a16="http://schemas.microsoft.com/office/drawing/2014/main" id="{E18D154B-687D-4B54-8842-27755F7CF06A}"/>
                </a:ext>
              </a:extLst>
            </p:cNvPr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2771;p35">
              <a:extLst>
                <a:ext uri="{FF2B5EF4-FFF2-40B4-BE49-F238E27FC236}">
                  <a16:creationId xmlns:a16="http://schemas.microsoft.com/office/drawing/2014/main" id="{EE8C1B68-6EA5-4507-9764-C35F043D2A8D}"/>
                </a:ext>
              </a:extLst>
            </p:cNvPr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EA186DB-2881-449C-B81A-1EA6DBA48B38}"/>
              </a:ext>
            </a:extLst>
          </p:cNvPr>
          <p:cNvSpPr/>
          <p:nvPr/>
        </p:nvSpPr>
        <p:spPr>
          <a:xfrm>
            <a:off x="-133207" y="357077"/>
            <a:ext cx="6401660" cy="901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200" b="0" u="none" strike="noStrike" dirty="0">
                <a:solidFill>
                  <a:schemeClr val="bg1"/>
                </a:solidFill>
                <a:effectLst/>
                <a:uFillTx/>
                <a:latin typeface="OpenSymbol"/>
              </a:rPr>
              <a:t>MODEL </a:t>
            </a:r>
            <a:r>
              <a:rPr lang="en-GB" sz="3200" dirty="0">
                <a:solidFill>
                  <a:schemeClr val="accent2"/>
                </a:solidFill>
                <a:latin typeface="OpenSymbol"/>
              </a:rPr>
              <a:t>TO RECOMMENDATION</a:t>
            </a:r>
            <a:endParaRPr lang="en-US" sz="3200" b="0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D828F6-6A7B-4BC4-8120-FD2237158A81}"/>
              </a:ext>
            </a:extLst>
          </p:cNvPr>
          <p:cNvSpPr txBox="1"/>
          <p:nvPr/>
        </p:nvSpPr>
        <p:spPr>
          <a:xfrm>
            <a:off x="152684" y="1054119"/>
            <a:ext cx="8562802" cy="37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A precision of 0.58 means my model is suited for low cost interventions, reminder calls or texts, not for high cost actions like overbooking or reassigning a patient's slot.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Two limits remain open, weaker precision for WhatsApp reminder patients, and under flagging of first time patients with no history. I sent the final model spec to ML Engineering, confirmation is still pending.</a:t>
            </a: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172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2765;p35">
            <a:extLst>
              <a:ext uri="{FF2B5EF4-FFF2-40B4-BE49-F238E27FC236}">
                <a16:creationId xmlns:a16="http://schemas.microsoft.com/office/drawing/2014/main" id="{30A27348-D488-4A82-9043-BE33530389F1}"/>
              </a:ext>
            </a:extLst>
          </p:cNvPr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31" name="Google Shape;2766;p35">
              <a:extLst>
                <a:ext uri="{FF2B5EF4-FFF2-40B4-BE49-F238E27FC236}">
                  <a16:creationId xmlns:a16="http://schemas.microsoft.com/office/drawing/2014/main" id="{A0BE2672-B6AA-40FB-8098-9F394A2C8EBC}"/>
                </a:ext>
              </a:extLst>
            </p:cNvPr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2767;p35">
              <a:extLst>
                <a:ext uri="{FF2B5EF4-FFF2-40B4-BE49-F238E27FC236}">
                  <a16:creationId xmlns:a16="http://schemas.microsoft.com/office/drawing/2014/main" id="{19F86BA8-3F28-49B3-80E0-38C008BA95A6}"/>
                </a:ext>
              </a:extLst>
            </p:cNvPr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2768;p35">
              <a:extLst>
                <a:ext uri="{FF2B5EF4-FFF2-40B4-BE49-F238E27FC236}">
                  <a16:creationId xmlns:a16="http://schemas.microsoft.com/office/drawing/2014/main" id="{1763D50D-9A2C-49A1-BAB6-D03F4A67F41B}"/>
                </a:ext>
              </a:extLst>
            </p:cNvPr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2769;p35">
              <a:extLst>
                <a:ext uri="{FF2B5EF4-FFF2-40B4-BE49-F238E27FC236}">
                  <a16:creationId xmlns:a16="http://schemas.microsoft.com/office/drawing/2014/main" id="{D01D1BBA-33D8-4D3D-A185-EFE2191FEA7C}"/>
                </a:ext>
              </a:extLst>
            </p:cNvPr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770;p35">
              <a:extLst>
                <a:ext uri="{FF2B5EF4-FFF2-40B4-BE49-F238E27FC236}">
                  <a16:creationId xmlns:a16="http://schemas.microsoft.com/office/drawing/2014/main" id="{1D4E7D39-0899-4EA8-9D0D-B58E4A90EFB9}"/>
                </a:ext>
              </a:extLst>
            </p:cNvPr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2771;p35">
              <a:extLst>
                <a:ext uri="{FF2B5EF4-FFF2-40B4-BE49-F238E27FC236}">
                  <a16:creationId xmlns:a16="http://schemas.microsoft.com/office/drawing/2014/main" id="{7DA58BDC-EF1E-4A44-95D1-5B3472B6A6D3}"/>
                </a:ext>
              </a:extLst>
            </p:cNvPr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" name="Google Shape;2765;p35">
            <a:extLst>
              <a:ext uri="{FF2B5EF4-FFF2-40B4-BE49-F238E27FC236}">
                <a16:creationId xmlns:a16="http://schemas.microsoft.com/office/drawing/2014/main" id="{7F4671E1-0374-419C-8DF2-81295A605E77}"/>
              </a:ext>
            </a:extLst>
          </p:cNvPr>
          <p:cNvGrpSpPr/>
          <p:nvPr/>
        </p:nvGrpSpPr>
        <p:grpSpPr>
          <a:xfrm>
            <a:off x="7126560" y="852840"/>
            <a:ext cx="882720" cy="266082"/>
            <a:chOff x="7126560" y="852840"/>
            <a:chExt cx="882720" cy="241560"/>
          </a:xfrm>
        </p:grpSpPr>
        <p:sp>
          <p:nvSpPr>
            <p:cNvPr id="38" name="Google Shape;2766;p35">
              <a:extLst>
                <a:ext uri="{FF2B5EF4-FFF2-40B4-BE49-F238E27FC236}">
                  <a16:creationId xmlns:a16="http://schemas.microsoft.com/office/drawing/2014/main" id="{4F98E06E-612B-4E57-938D-13C6FADEDDFD}"/>
                </a:ext>
              </a:extLst>
            </p:cNvPr>
            <p:cNvSpPr/>
            <p:nvPr/>
          </p:nvSpPr>
          <p:spPr>
            <a:xfrm>
              <a:off x="7126560" y="8528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2767;p35">
              <a:extLst>
                <a:ext uri="{FF2B5EF4-FFF2-40B4-BE49-F238E27FC236}">
                  <a16:creationId xmlns:a16="http://schemas.microsoft.com/office/drawing/2014/main" id="{3360305F-2A9D-4B75-8BFD-A5D3C11CE03A}"/>
                </a:ext>
              </a:extLst>
            </p:cNvPr>
            <p:cNvSpPr/>
            <p:nvPr/>
          </p:nvSpPr>
          <p:spPr>
            <a:xfrm>
              <a:off x="7273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2768;p35">
              <a:extLst>
                <a:ext uri="{FF2B5EF4-FFF2-40B4-BE49-F238E27FC236}">
                  <a16:creationId xmlns:a16="http://schemas.microsoft.com/office/drawing/2014/main" id="{357A0CD6-C620-4521-A34B-D6654F520CC7}"/>
                </a:ext>
              </a:extLst>
            </p:cNvPr>
            <p:cNvSpPr/>
            <p:nvPr/>
          </p:nvSpPr>
          <p:spPr>
            <a:xfrm>
              <a:off x="741996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2769;p35">
              <a:extLst>
                <a:ext uri="{FF2B5EF4-FFF2-40B4-BE49-F238E27FC236}">
                  <a16:creationId xmlns:a16="http://schemas.microsoft.com/office/drawing/2014/main" id="{6FF3CE1E-89AA-41F1-9B56-CC288F886D42}"/>
                </a:ext>
              </a:extLst>
            </p:cNvPr>
            <p:cNvSpPr/>
            <p:nvPr/>
          </p:nvSpPr>
          <p:spPr>
            <a:xfrm>
              <a:off x="756648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2770;p35">
              <a:extLst>
                <a:ext uri="{FF2B5EF4-FFF2-40B4-BE49-F238E27FC236}">
                  <a16:creationId xmlns:a16="http://schemas.microsoft.com/office/drawing/2014/main" id="{E18D154B-687D-4B54-8842-27755F7CF06A}"/>
                </a:ext>
              </a:extLst>
            </p:cNvPr>
            <p:cNvSpPr/>
            <p:nvPr/>
          </p:nvSpPr>
          <p:spPr>
            <a:xfrm>
              <a:off x="771264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2771;p35">
              <a:extLst>
                <a:ext uri="{FF2B5EF4-FFF2-40B4-BE49-F238E27FC236}">
                  <a16:creationId xmlns:a16="http://schemas.microsoft.com/office/drawing/2014/main" id="{EE8C1B68-6EA5-4507-9764-C35F043D2A8D}"/>
                </a:ext>
              </a:extLst>
            </p:cNvPr>
            <p:cNvSpPr/>
            <p:nvPr/>
          </p:nvSpPr>
          <p:spPr>
            <a:xfrm>
              <a:off x="7858800" y="8528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EA186DB-2881-449C-B81A-1EA6DBA48B38}"/>
              </a:ext>
            </a:extLst>
          </p:cNvPr>
          <p:cNvSpPr/>
          <p:nvPr/>
        </p:nvSpPr>
        <p:spPr>
          <a:xfrm>
            <a:off x="-133207" y="357077"/>
            <a:ext cx="6401660" cy="901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GB" sz="3200" dirty="0">
                <a:solidFill>
                  <a:schemeClr val="bg1"/>
                </a:solidFill>
                <a:latin typeface="OpenSymbol"/>
              </a:rPr>
              <a:t>CROSS </a:t>
            </a:r>
            <a:r>
              <a:rPr lang="en-GB" sz="3200" dirty="0">
                <a:solidFill>
                  <a:schemeClr val="accent2"/>
                </a:solidFill>
                <a:latin typeface="OpenSymbol"/>
              </a:rPr>
              <a:t>TRACK COLLABORATION</a:t>
            </a:r>
            <a:endParaRPr lang="en-US" sz="3200" b="0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D828F6-6A7B-4BC4-8120-FD2237158A81}"/>
              </a:ext>
            </a:extLst>
          </p:cNvPr>
          <p:cNvSpPr txBox="1"/>
          <p:nvPr/>
        </p:nvSpPr>
        <p:spPr>
          <a:xfrm>
            <a:off x="152684" y="1054119"/>
            <a:ext cx="8562802" cy="4193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With Data Analytics, Angela and Yusuf's validated no show patterns shaped my model interpretation and resolved a data discrepancy</a:t>
            </a:r>
            <a:b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With ML Engineering, I sent the final model, threshold, and feature requirements, confirmation still outstanding.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b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This exchange is what moved my model from a standalone result into part of one connected </a:t>
            </a:r>
            <a:r>
              <a:rPr lang="en-US" sz="2000" dirty="0" err="1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HealthConnect</a:t>
            </a: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solution</a:t>
            </a:r>
            <a:endParaRPr lang="en-US" sz="2000" b="0" u="none" strike="noStrike" dirty="0">
              <a:solidFill>
                <a:schemeClr val="bg1"/>
              </a:solidFill>
              <a:effectLst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86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2700;p34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346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2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353" name="Google Shape;2708;p34"/>
            <p:cNvSpPr/>
            <p:nvPr/>
          </p:nvSpPr>
          <p:spPr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2709;p34"/>
            <p:cNvSpPr/>
            <p:nvPr/>
          </p:nvSpPr>
          <p:spPr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2710;p34"/>
            <p:cNvSpPr/>
            <p:nvPr/>
          </p:nvSpPr>
          <p:spPr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2711;p34"/>
            <p:cNvSpPr/>
            <p:nvPr/>
          </p:nvSpPr>
          <p:spPr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2712;p34"/>
            <p:cNvSpPr/>
            <p:nvPr/>
          </p:nvSpPr>
          <p:spPr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2713;p34"/>
            <p:cNvSpPr/>
            <p:nvPr/>
          </p:nvSpPr>
          <p:spPr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59" name="Google Shape;2714;p34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360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5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366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367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8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9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0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1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2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3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4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5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6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7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378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0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1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88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389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3" name="Rectangle 402"/>
          <p:cNvSpPr/>
          <p:nvPr/>
        </p:nvSpPr>
        <p:spPr>
          <a:xfrm>
            <a:off x="857585" y="2557619"/>
            <a:ext cx="7820249" cy="14862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i="1" dirty="0">
                <a:solidFill>
                  <a:srgbClr val="FFFFFF"/>
                </a:solidFill>
                <a:latin typeface="PT Sans"/>
              </a:rPr>
              <a:t>Prepared by: Fatimah Odumuyiwa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i="1" dirty="0">
                <a:solidFill>
                  <a:srgbClr val="FFFFFF"/>
                </a:solidFill>
                <a:latin typeface="PT Sans"/>
              </a:rPr>
              <a:t>Project link: </a:t>
            </a:r>
            <a:r>
              <a:rPr lang="en-US" i="1" dirty="0">
                <a:solidFill>
                  <a:srgbClr val="FFFFFF"/>
                </a:solidFill>
                <a:latin typeface="PT Sans"/>
                <a:hlinkClick r:id="rId2"/>
              </a:rPr>
              <a:t>https://github.com/Oyxpheel/Health-Connect-Clinic</a:t>
            </a:r>
            <a:endParaRPr lang="en-US" i="1" dirty="0">
              <a:solidFill>
                <a:srgbClr val="FFFFFF"/>
              </a:solidFill>
              <a:latin typeface="PT Sans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i="1" dirty="0" err="1">
                <a:solidFill>
                  <a:srgbClr val="FFFFFF"/>
                </a:solidFill>
                <a:latin typeface="PT Sans"/>
              </a:rPr>
              <a:t>Linkedin</a:t>
            </a:r>
            <a:r>
              <a:rPr lang="en-US" i="1" dirty="0">
                <a:solidFill>
                  <a:srgbClr val="FFFFFF"/>
                </a:solidFill>
                <a:latin typeface="PT Sans"/>
              </a:rPr>
              <a:t>: https://www.linkedin.com/in/fatimahodumuyiwa/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i="1" dirty="0">
              <a:solidFill>
                <a:srgbClr val="FFFFFF"/>
              </a:solidFill>
              <a:latin typeface="PT Sans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i="1" dirty="0">
              <a:solidFill>
                <a:srgbClr val="FFFFFF"/>
              </a:solidFill>
              <a:latin typeface="PT Sans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i="1" dirty="0">
              <a:solidFill>
                <a:srgbClr val="FFFFFF"/>
              </a:solidFill>
              <a:latin typeface="PT Sans"/>
            </a:endParaRPr>
          </a:p>
        </p:txBody>
      </p:sp>
      <p:sp>
        <p:nvSpPr>
          <p:cNvPr id="404" name="Rectangle 403"/>
          <p:cNvSpPr/>
          <p:nvPr/>
        </p:nvSpPr>
        <p:spPr>
          <a:xfrm>
            <a:off x="-62753" y="985818"/>
            <a:ext cx="8595041" cy="912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800" b="1" dirty="0">
                <a:solidFill>
                  <a:srgbClr val="8FFFFF"/>
                </a:solidFill>
                <a:latin typeface="Exo"/>
              </a:rPr>
              <a:t>THANK YOU</a:t>
            </a:r>
            <a:endParaRPr lang="en-US" sz="4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2DAE39-8381-4D1E-824F-4B768F71E90F}"/>
              </a:ext>
            </a:extLst>
          </p:cNvPr>
          <p:cNvSpPr txBox="1"/>
          <p:nvPr/>
        </p:nvSpPr>
        <p:spPr>
          <a:xfrm>
            <a:off x="5560200" y="1692732"/>
            <a:ext cx="3908390" cy="464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GB" i="1" dirty="0">
                <a:solidFill>
                  <a:srgbClr val="FFFFFF"/>
                </a:solidFill>
                <a:latin typeface="PT Sans"/>
              </a:rPr>
              <a:t>....Any</a:t>
            </a:r>
            <a:r>
              <a:rPr lang="en-US" i="1" dirty="0">
                <a:solidFill>
                  <a:srgbClr val="FFFFFF"/>
                </a:solidFill>
                <a:latin typeface="PT Sans"/>
              </a:rPr>
              <a:t> Questions?</a:t>
            </a:r>
            <a:endParaRPr lang="en-US" sz="1800" b="0" i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025316114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496</Words>
  <Application>Microsoft Office PowerPoint</Application>
  <PresentationFormat>On-screen Show (16:9)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Cascadia Code ExtraLight</vt:lpstr>
      <vt:lpstr>Exo</vt:lpstr>
      <vt:lpstr>OpenSymbol</vt:lpstr>
      <vt:lpstr>PT Sans</vt:lpstr>
      <vt:lpstr>Symbol</vt:lpstr>
      <vt:lpstr>Wingdings</vt:lpstr>
      <vt:lpstr>Data Center Business Plan by Slidesgo</vt:lpstr>
      <vt:lpstr>Data Center Business Plan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Fatimah Odumuyiwa</cp:lastModifiedBy>
  <cp:revision>14</cp:revision>
  <dcterms:modified xsi:type="dcterms:W3CDTF">2026-09-27T18:36:25Z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2026-09-27T16:23:08Z</dcterms:created>
  <dc:creator>Slidesgo AI</dc:creator>
  <dc:description/>
  <dc:language>en-US</dc:language>
  <cp:lastModifiedBy>Unknown Creator</cp:lastModifiedBy>
  <dcterms:modified xsi:type="dcterms:W3CDTF">2026-09-27T16:23:08Z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a2d8ee89-b4f0-4764-b8b9-c64eb268cea4</vt:lpwstr>
  </property>
</Properties>
</file>